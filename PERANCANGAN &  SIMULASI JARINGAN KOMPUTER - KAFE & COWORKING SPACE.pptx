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Telegraf Bold" charset="1" panose="00000800000000000000"/>
      <p:regular r:id="rId14"/>
    </p:embeddedFont>
    <p:embeddedFont>
      <p:font typeface="Roboto Bold Italics" charset="1" panose="02000000000000000000"/>
      <p:regular r:id="rId15"/>
    </p:embeddedFont>
    <p:embeddedFont>
      <p:font typeface="Roboto" charset="1" panose="02000000000000000000"/>
      <p:regular r:id="rId16"/>
    </p:embeddedFont>
    <p:embeddedFont>
      <p:font typeface="Roboto Bold" charset="1" panose="02000000000000000000"/>
      <p:regular r:id="rId17"/>
    </p:embeddedFont>
    <p:embeddedFont>
      <p:font typeface="Calibri (MS)" charset="1" panose="020F050202020403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jpeg" Type="http://schemas.openxmlformats.org/officeDocument/2006/relationships/image"/><Relationship Id="rId4" Target="../media/image8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123037" y="413277"/>
            <a:ext cx="6041925" cy="1432444"/>
          </a:xfrm>
          <a:custGeom>
            <a:avLst/>
            <a:gdLst/>
            <a:ahLst/>
            <a:cxnLst/>
            <a:rect r="r" b="b" t="t" l="l"/>
            <a:pathLst>
              <a:path h="1432444" w="6041925">
                <a:moveTo>
                  <a:pt x="0" y="0"/>
                </a:moveTo>
                <a:lnTo>
                  <a:pt x="6041926" y="0"/>
                </a:lnTo>
                <a:lnTo>
                  <a:pt x="6041926" y="1432444"/>
                </a:lnTo>
                <a:lnTo>
                  <a:pt x="0" y="14324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0610" r="0" b="-25206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532205" y="4961285"/>
            <a:ext cx="13223590" cy="576526"/>
            <a:chOff x="0" y="0"/>
            <a:chExt cx="3482756" cy="15184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482756" cy="151842"/>
            </a:xfrm>
            <a:custGeom>
              <a:avLst/>
              <a:gdLst/>
              <a:ahLst/>
              <a:cxnLst/>
              <a:rect r="r" b="b" t="t" l="l"/>
              <a:pathLst>
                <a:path h="151842" w="3482756">
                  <a:moveTo>
                    <a:pt x="58546" y="0"/>
                  </a:moveTo>
                  <a:lnTo>
                    <a:pt x="3424210" y="0"/>
                  </a:lnTo>
                  <a:cubicBezTo>
                    <a:pt x="3456544" y="0"/>
                    <a:pt x="3482756" y="26212"/>
                    <a:pt x="3482756" y="58546"/>
                  </a:cubicBezTo>
                  <a:lnTo>
                    <a:pt x="3482756" y="93296"/>
                  </a:lnTo>
                  <a:cubicBezTo>
                    <a:pt x="3482756" y="125630"/>
                    <a:pt x="3456544" y="151842"/>
                    <a:pt x="3424210" y="151842"/>
                  </a:cubicBezTo>
                  <a:lnTo>
                    <a:pt x="58546" y="151842"/>
                  </a:lnTo>
                  <a:cubicBezTo>
                    <a:pt x="26212" y="151842"/>
                    <a:pt x="0" y="125630"/>
                    <a:pt x="0" y="93296"/>
                  </a:cubicBezTo>
                  <a:lnTo>
                    <a:pt x="0" y="58546"/>
                  </a:lnTo>
                  <a:cubicBezTo>
                    <a:pt x="0" y="26212"/>
                    <a:pt x="26212" y="0"/>
                    <a:pt x="58546" y="0"/>
                  </a:cubicBezTo>
                  <a:close/>
                </a:path>
              </a:pathLst>
            </a:custGeom>
            <a:solidFill>
              <a:srgbClr val="000000">
                <a:alpha val="6667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3482756" cy="199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252216" y="2560096"/>
            <a:ext cx="13783567" cy="1734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99"/>
              </a:lnSpc>
            </a:pPr>
            <a:r>
              <a:rPr lang="en-US" b="true" sz="6399" spc="-127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PERANCANGAN &amp; </a:t>
            </a:r>
          </a:p>
          <a:p>
            <a:pPr algn="ctr" marL="0" indent="0" lvl="0">
              <a:lnSpc>
                <a:spcPts val="6399"/>
              </a:lnSpc>
            </a:pPr>
            <a:r>
              <a:rPr lang="en-US" b="true" sz="6399" spc="-127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SIMULASI JARINGAN KOMPUTER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64199" y="4485924"/>
            <a:ext cx="15559602" cy="990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67"/>
              </a:lnSpc>
            </a:pPr>
            <a:r>
              <a:rPr lang="en-US" b="true" sz="7200" spc="-144">
                <a:solidFill>
                  <a:srgbClr val="00347A"/>
                </a:solidFill>
                <a:latin typeface="Telegraf Bold"/>
                <a:ea typeface="Telegraf Bold"/>
                <a:cs typeface="Telegraf Bold"/>
                <a:sym typeface="Telegraf Bold"/>
              </a:rPr>
              <a:t>KAFE &amp; COWO</a:t>
            </a:r>
            <a:r>
              <a:rPr lang="en-US" b="true" sz="7200" spc="-144">
                <a:solidFill>
                  <a:srgbClr val="00347A"/>
                </a:solidFill>
                <a:latin typeface="Telegraf Bold"/>
                <a:ea typeface="Telegraf Bold"/>
                <a:cs typeface="Telegraf Bold"/>
                <a:sym typeface="Telegraf Bold"/>
              </a:rPr>
              <a:t>RKING SPACE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340719" y="6137886"/>
            <a:ext cx="7606561" cy="331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3600" i="true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KELOMPOK 6 - TI-2-A</a:t>
            </a:r>
          </a:p>
          <a:p>
            <a:pPr algn="ctr">
              <a:lnSpc>
                <a:spcPts val="1679"/>
              </a:lnSpc>
            </a:pP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1. Muhammad Ridho Darmawan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2. Muhammad Juan Saleh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3. Siti Julaeha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4. Azizurrahman Hakim Almalik</a:t>
            </a:r>
          </a:p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5. Usup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58252" y="2225036"/>
            <a:ext cx="2929813" cy="599241"/>
            <a:chOff x="0" y="0"/>
            <a:chExt cx="771638" cy="15782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71638" cy="157825"/>
            </a:xfrm>
            <a:custGeom>
              <a:avLst/>
              <a:gdLst/>
              <a:ahLst/>
              <a:cxnLst/>
              <a:rect r="r" b="b" t="t" l="l"/>
              <a:pathLst>
                <a:path h="157825" w="771638">
                  <a:moveTo>
                    <a:pt x="47564" y="0"/>
                  </a:moveTo>
                  <a:lnTo>
                    <a:pt x="724074" y="0"/>
                  </a:lnTo>
                  <a:cubicBezTo>
                    <a:pt x="750343" y="0"/>
                    <a:pt x="771638" y="21295"/>
                    <a:pt x="771638" y="47564"/>
                  </a:cubicBezTo>
                  <a:lnTo>
                    <a:pt x="771638" y="110260"/>
                  </a:lnTo>
                  <a:cubicBezTo>
                    <a:pt x="771638" y="122875"/>
                    <a:pt x="766627" y="134973"/>
                    <a:pt x="757707" y="143893"/>
                  </a:cubicBezTo>
                  <a:cubicBezTo>
                    <a:pt x="748787" y="152813"/>
                    <a:pt x="736689" y="157825"/>
                    <a:pt x="724074" y="157825"/>
                  </a:cubicBezTo>
                  <a:lnTo>
                    <a:pt x="47564" y="157825"/>
                  </a:lnTo>
                  <a:cubicBezTo>
                    <a:pt x="34949" y="157825"/>
                    <a:pt x="22851" y="152813"/>
                    <a:pt x="13931" y="143893"/>
                  </a:cubicBezTo>
                  <a:cubicBezTo>
                    <a:pt x="5011" y="134973"/>
                    <a:pt x="0" y="122875"/>
                    <a:pt x="0" y="110260"/>
                  </a:cubicBezTo>
                  <a:lnTo>
                    <a:pt x="0" y="47564"/>
                  </a:lnTo>
                  <a:cubicBezTo>
                    <a:pt x="0" y="34949"/>
                    <a:pt x="5011" y="22851"/>
                    <a:pt x="13931" y="13931"/>
                  </a:cubicBezTo>
                  <a:cubicBezTo>
                    <a:pt x="22851" y="5011"/>
                    <a:pt x="34949" y="0"/>
                    <a:pt x="47564" y="0"/>
                  </a:cubicBezTo>
                  <a:close/>
                </a:path>
              </a:pathLst>
            </a:custGeom>
            <a:solidFill>
              <a:srgbClr val="00347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771638" cy="20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665721" y="1736645"/>
            <a:ext cx="6094622" cy="6094622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6667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233443" y="-326819"/>
            <a:ext cx="4959177" cy="7701528"/>
            <a:chOff x="0" y="0"/>
            <a:chExt cx="858874" cy="133381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58874" cy="1333819"/>
            </a:xfrm>
            <a:custGeom>
              <a:avLst/>
              <a:gdLst/>
              <a:ahLst/>
              <a:cxnLst/>
              <a:rect r="r" b="b" t="t" l="l"/>
              <a:pathLst>
                <a:path h="1333819" w="858874">
                  <a:moveTo>
                    <a:pt x="39028" y="0"/>
                  </a:moveTo>
                  <a:lnTo>
                    <a:pt x="819846" y="0"/>
                  </a:lnTo>
                  <a:cubicBezTo>
                    <a:pt x="830197" y="0"/>
                    <a:pt x="840124" y="4112"/>
                    <a:pt x="847443" y="11431"/>
                  </a:cubicBezTo>
                  <a:cubicBezTo>
                    <a:pt x="854762" y="18750"/>
                    <a:pt x="858874" y="28677"/>
                    <a:pt x="858874" y="39028"/>
                  </a:cubicBezTo>
                  <a:lnTo>
                    <a:pt x="858874" y="1294791"/>
                  </a:lnTo>
                  <a:cubicBezTo>
                    <a:pt x="858874" y="1305142"/>
                    <a:pt x="854762" y="1315069"/>
                    <a:pt x="847443" y="1322388"/>
                  </a:cubicBezTo>
                  <a:cubicBezTo>
                    <a:pt x="840124" y="1329707"/>
                    <a:pt x="830197" y="1333819"/>
                    <a:pt x="819846" y="1333819"/>
                  </a:cubicBezTo>
                  <a:lnTo>
                    <a:pt x="39028" y="1333819"/>
                  </a:lnTo>
                  <a:cubicBezTo>
                    <a:pt x="17474" y="1333819"/>
                    <a:pt x="0" y="1316345"/>
                    <a:pt x="0" y="1294791"/>
                  </a:cubicBezTo>
                  <a:lnTo>
                    <a:pt x="0" y="39028"/>
                  </a:lnTo>
                  <a:cubicBezTo>
                    <a:pt x="0" y="28677"/>
                    <a:pt x="4112" y="18750"/>
                    <a:pt x="11431" y="11431"/>
                  </a:cubicBezTo>
                  <a:cubicBezTo>
                    <a:pt x="18750" y="4112"/>
                    <a:pt x="28677" y="0"/>
                    <a:pt x="39028" y="0"/>
                  </a:cubicBezTo>
                  <a:close/>
                </a:path>
              </a:pathLst>
            </a:custGeom>
            <a:blipFill>
              <a:blip r:embed="rId3"/>
              <a:stretch>
                <a:fillRect l="-92180" t="0" r="-3620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28700" y="5260573"/>
            <a:ext cx="10507468" cy="1362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2" indent="-280671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Terdapat 4 </a:t>
            </a:r>
            <a:r>
              <a:rPr lang="en-US" sz="2600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ruangan dengan kebutuhan komputer be</a:t>
            </a:r>
            <a:r>
              <a:rPr lang="en-US" sz="2600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rbeda.</a:t>
            </a:r>
          </a:p>
          <a:p>
            <a:pPr algn="l" marL="561342" indent="-280671" lvl="1">
              <a:lnSpc>
                <a:spcPts val="3640"/>
              </a:lnSpc>
              <a:buFont typeface="Arial"/>
              <a:buChar char="•"/>
            </a:pPr>
            <a:r>
              <a:rPr lang="en-US" sz="2600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r>
              <a:rPr lang="en-US" sz="2600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lang="en-US" sz="2600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perluk</a:t>
            </a:r>
            <a:r>
              <a:rPr lang="en-US" sz="2600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 pembagian IP Address yang ses</a:t>
            </a:r>
            <a:r>
              <a:rPr lang="en-US" sz="2600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</a:t>
            </a:r>
            <a:r>
              <a:rPr lang="en-US" sz="2600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-US" sz="2600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lang="en-US" sz="2600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kebutuhan.</a:t>
            </a:r>
          </a:p>
          <a:p>
            <a:pPr algn="l" marL="561342" indent="-280671" lvl="1">
              <a:lnSpc>
                <a:spcPts val="3640"/>
              </a:lnSpc>
              <a:buFont typeface="Arial"/>
              <a:buChar char="•"/>
            </a:pPr>
            <a:r>
              <a:rPr lang="en-US" sz="2600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Komunika</a:t>
            </a:r>
            <a:r>
              <a:rPr lang="en-US" sz="2600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si</a:t>
            </a:r>
            <a:r>
              <a:rPr lang="en-US" sz="2600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antarja</a:t>
            </a:r>
            <a:r>
              <a:rPr lang="en-US" sz="2600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</a:t>
            </a:r>
            <a:r>
              <a:rPr lang="en-US" sz="2600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</a:t>
            </a:r>
            <a:r>
              <a:rPr lang="en-US" sz="2600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</a:t>
            </a:r>
            <a:r>
              <a:rPr lang="en-US" sz="2600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 </a:t>
            </a:r>
            <a:r>
              <a:rPr lang="en-US" sz="2600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</a:t>
            </a:r>
            <a:r>
              <a:rPr lang="en-US" sz="2600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erlu di</a:t>
            </a:r>
            <a:r>
              <a:rPr lang="en-US" sz="2600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k</a:t>
            </a:r>
            <a:r>
              <a:rPr lang="en-US" sz="2600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lang="en-US" sz="2600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lola</a:t>
            </a:r>
            <a:r>
              <a:rPr lang="en-US" sz="2600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dan diba</a:t>
            </a:r>
            <a:r>
              <a:rPr lang="en-US" sz="2600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</a:t>
            </a:r>
            <a:r>
              <a:rPr lang="en-US" sz="2600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-US" sz="2600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si</a:t>
            </a:r>
            <a:r>
              <a:rPr lang="en-US" sz="2600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58252" y="7518633"/>
            <a:ext cx="10507468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Merancang dan menyimulasikan jaringan menggunakan topologi Extended Star dan metode VLSM melalui GNS3.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1066800"/>
            <a:ext cx="8985246" cy="808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00"/>
              </a:lnSpc>
            </a:pPr>
            <a:r>
              <a:rPr lang="en-US" b="true" sz="5600" spc="-112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ANALISIS STUDI KASUS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31846" y="2351667"/>
            <a:ext cx="3040664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60"/>
              </a:lnSpc>
            </a:pPr>
            <a:r>
              <a:rPr lang="en-US" b="true" sz="30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Latar Belakang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58252" y="3002513"/>
            <a:ext cx="8688140" cy="1362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Kafe &amp; Coworking Sp</a:t>
            </a:r>
            <a:r>
              <a:rPr lang="en-US" b="true" sz="2599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ace</a:t>
            </a:r>
            <a:r>
              <a:rPr lang="en-US" sz="25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membutuhkan jaringan komputer untuk mendukung aktivitas kasir, administrasi, pengelolaan data, dan penggunaan fasilitas coworking.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58252" y="4679548"/>
            <a:ext cx="353922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Permasalahan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58252" y="6937608"/>
            <a:ext cx="353922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Tujuan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0437996" y="5876925"/>
          <a:ext cx="6821304" cy="3581400"/>
        </p:xfrm>
        <a:graphic>
          <a:graphicData uri="http://schemas.openxmlformats.org/drawingml/2006/table">
            <a:tbl>
              <a:tblPr/>
              <a:tblGrid>
                <a:gridCol w="2920179"/>
                <a:gridCol w="1342790"/>
                <a:gridCol w="1213550"/>
                <a:gridCol w="1344785"/>
              </a:tblGrid>
              <a:tr h="94801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Ruangan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Jumlah PC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Switch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Router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A"/>
                    </a:solidFill>
                  </a:tcPr>
                </a:tc>
              </a:tr>
              <a:tr h="52667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6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Bar/Kasir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667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6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Indoor/Coworking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667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6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Admin/Keuangan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667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6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Server/Penyimpanan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667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000000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Total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000000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18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000000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4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000000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1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4" id="4"/>
          <p:cNvSpPr/>
          <p:nvPr/>
        </p:nvSpPr>
        <p:spPr>
          <a:xfrm flipH="false" flipV="false" rot="0">
            <a:off x="938024" y="2809240"/>
            <a:ext cx="9324353" cy="6677660"/>
          </a:xfrm>
          <a:custGeom>
            <a:avLst/>
            <a:gdLst/>
            <a:ahLst/>
            <a:cxnLst/>
            <a:rect r="r" b="b" t="t" l="l"/>
            <a:pathLst>
              <a:path h="6677660" w="9324353">
                <a:moveTo>
                  <a:pt x="0" y="0"/>
                </a:moveTo>
                <a:lnTo>
                  <a:pt x="9324353" y="0"/>
                </a:lnTo>
                <a:lnTo>
                  <a:pt x="9324353" y="6677660"/>
                </a:lnTo>
                <a:lnTo>
                  <a:pt x="0" y="66776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437996" y="3186430"/>
            <a:ext cx="3233502" cy="2532457"/>
          </a:xfrm>
          <a:custGeom>
            <a:avLst/>
            <a:gdLst/>
            <a:ahLst/>
            <a:cxnLst/>
            <a:rect r="r" b="b" t="t" l="l"/>
            <a:pathLst>
              <a:path h="2532457" w="3233502">
                <a:moveTo>
                  <a:pt x="0" y="0"/>
                </a:moveTo>
                <a:lnTo>
                  <a:pt x="3233501" y="0"/>
                </a:lnTo>
                <a:lnTo>
                  <a:pt x="3233501" y="2532457"/>
                </a:lnTo>
                <a:lnTo>
                  <a:pt x="0" y="25324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743" t="-7070" r="-24040" b="-81131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661972" y="3186430"/>
            <a:ext cx="3373060" cy="1403716"/>
          </a:xfrm>
          <a:custGeom>
            <a:avLst/>
            <a:gdLst/>
            <a:ahLst/>
            <a:cxnLst/>
            <a:rect r="r" b="b" t="t" l="l"/>
            <a:pathLst>
              <a:path h="1403716" w="3373060">
                <a:moveTo>
                  <a:pt x="0" y="0"/>
                </a:moveTo>
                <a:lnTo>
                  <a:pt x="3373061" y="0"/>
                </a:lnTo>
                <a:lnTo>
                  <a:pt x="3373061" y="1403716"/>
                </a:lnTo>
                <a:lnTo>
                  <a:pt x="0" y="14037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178" t="-230114" r="-19318" b="-9423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661972" y="4452658"/>
            <a:ext cx="3382585" cy="1266228"/>
          </a:xfrm>
          <a:custGeom>
            <a:avLst/>
            <a:gdLst/>
            <a:ahLst/>
            <a:cxnLst/>
            <a:rect r="r" b="b" t="t" l="l"/>
            <a:pathLst>
              <a:path h="1266228" w="3382585">
                <a:moveTo>
                  <a:pt x="0" y="0"/>
                </a:moveTo>
                <a:lnTo>
                  <a:pt x="3382586" y="0"/>
                </a:lnTo>
                <a:lnTo>
                  <a:pt x="3382586" y="1266229"/>
                </a:lnTo>
                <a:lnTo>
                  <a:pt x="0" y="12662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07876" t="-30572" r="-7988" b="-842744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1209910" y="5131298"/>
            <a:ext cx="2752965" cy="587589"/>
            <a:chOff x="0" y="0"/>
            <a:chExt cx="725061" cy="15475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25061" cy="154756"/>
            </a:xfrm>
            <a:custGeom>
              <a:avLst/>
              <a:gdLst/>
              <a:ahLst/>
              <a:cxnLst/>
              <a:rect r="r" b="b" t="t" l="l"/>
              <a:pathLst>
                <a:path h="154756" w="725061">
                  <a:moveTo>
                    <a:pt x="77378" y="0"/>
                  </a:moveTo>
                  <a:lnTo>
                    <a:pt x="647683" y="0"/>
                  </a:lnTo>
                  <a:cubicBezTo>
                    <a:pt x="668205" y="0"/>
                    <a:pt x="687886" y="8152"/>
                    <a:pt x="702397" y="22663"/>
                  </a:cubicBezTo>
                  <a:cubicBezTo>
                    <a:pt x="716908" y="37175"/>
                    <a:pt x="725061" y="56856"/>
                    <a:pt x="725061" y="77378"/>
                  </a:cubicBezTo>
                  <a:lnTo>
                    <a:pt x="725061" y="77378"/>
                  </a:lnTo>
                  <a:cubicBezTo>
                    <a:pt x="725061" y="120113"/>
                    <a:pt x="690417" y="154756"/>
                    <a:pt x="647683" y="154756"/>
                  </a:cubicBezTo>
                  <a:lnTo>
                    <a:pt x="77378" y="154756"/>
                  </a:lnTo>
                  <a:cubicBezTo>
                    <a:pt x="56856" y="154756"/>
                    <a:pt x="37175" y="146604"/>
                    <a:pt x="22663" y="132093"/>
                  </a:cubicBezTo>
                  <a:cubicBezTo>
                    <a:pt x="8152" y="117581"/>
                    <a:pt x="0" y="97900"/>
                    <a:pt x="0" y="77378"/>
                  </a:cubicBezTo>
                  <a:lnTo>
                    <a:pt x="0" y="77378"/>
                  </a:lnTo>
                  <a:cubicBezTo>
                    <a:pt x="0" y="56856"/>
                    <a:pt x="8152" y="37175"/>
                    <a:pt x="22663" y="22663"/>
                  </a:cubicBezTo>
                  <a:cubicBezTo>
                    <a:pt x="37175" y="8152"/>
                    <a:pt x="56856" y="0"/>
                    <a:pt x="77378" y="0"/>
                  </a:cubicBezTo>
                  <a:close/>
                </a:path>
              </a:pathLst>
            </a:custGeom>
            <a:solidFill>
              <a:srgbClr val="F2F5F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725061" cy="2023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3475195" y="1066800"/>
            <a:ext cx="11337611" cy="1513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00"/>
              </a:lnSpc>
            </a:pPr>
            <a:r>
              <a:rPr lang="en-US" b="true" sz="5600" spc="-112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DENAH &amp; ANALISIS KEBUTUHAN JARINGAN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37996" y="2752090"/>
            <a:ext cx="281166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Keterangan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304383" y="5203638"/>
            <a:ext cx="667792" cy="216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98"/>
              </a:lnSpc>
            </a:pPr>
            <a:r>
              <a:rPr lang="en-US" sz="12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Kabel UTP 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4538043" y="3531225"/>
            <a:ext cx="2184249" cy="231302"/>
          </a:xfrm>
          <a:custGeom>
            <a:avLst/>
            <a:gdLst/>
            <a:ahLst/>
            <a:cxnLst/>
            <a:rect r="r" b="b" t="t" l="l"/>
            <a:pathLst>
              <a:path h="231302" w="2184249">
                <a:moveTo>
                  <a:pt x="0" y="0"/>
                </a:moveTo>
                <a:lnTo>
                  <a:pt x="2184249" y="0"/>
                </a:lnTo>
                <a:lnTo>
                  <a:pt x="2184249" y="231301"/>
                </a:lnTo>
                <a:lnTo>
                  <a:pt x="0" y="2313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81772" t="-167366" r="-7383" b="-5060919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4595917" y="3519412"/>
            <a:ext cx="1035248" cy="216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98"/>
              </a:lnSpc>
            </a:pPr>
            <a:r>
              <a:rPr lang="en-US" sz="12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(di tiap ruangan)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158252" y="3716003"/>
          <a:ext cx="11897406" cy="4323695"/>
        </p:xfrm>
        <a:graphic>
          <a:graphicData uri="http://schemas.openxmlformats.org/drawingml/2006/table">
            <a:tbl>
              <a:tblPr/>
              <a:tblGrid>
                <a:gridCol w="2654275"/>
                <a:gridCol w="943270"/>
                <a:gridCol w="2055500"/>
                <a:gridCol w="1975359"/>
                <a:gridCol w="2244035"/>
                <a:gridCol w="2024967"/>
              </a:tblGrid>
              <a:tr h="53510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Ruangan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Prefix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Broadcast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Network ID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Host Usable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Host Tersedia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A"/>
                    </a:solidFill>
                  </a:tcPr>
                </a:tc>
              </a:tr>
              <a:tr h="94714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6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Coworking (12 PC)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/27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192.168.6.31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192.168.6.0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192.168.6.1–192.168.6.30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30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4714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6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Kasir (2 PC)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/29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192.168.6.39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192.168.6.32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192.168.6.33–192.168.6.38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4714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6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Admin (2 PC)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/29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192.168.6.47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192.168.6.40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192.168.6.41–192.168.6.46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4714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6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Server (2 PC)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/29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192.168.6.55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192.168.6.48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192.168.6.49–192.168.6.54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3475195" y="1066800"/>
            <a:ext cx="11337611" cy="1513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00"/>
              </a:lnSpc>
            </a:pPr>
            <a:r>
              <a:rPr lang="en-US" b="true" sz="5600" spc="-112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PEMBAGIAN IP UTAMA &amp; PERHITUNGAN SUBNETTING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158252" y="2850062"/>
            <a:ext cx="4900390" cy="599241"/>
            <a:chOff x="0" y="0"/>
            <a:chExt cx="1290638" cy="1578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90638" cy="157825"/>
            </a:xfrm>
            <a:custGeom>
              <a:avLst/>
              <a:gdLst/>
              <a:ahLst/>
              <a:cxnLst/>
              <a:rect r="r" b="b" t="t" l="l"/>
              <a:pathLst>
                <a:path h="157825" w="1290638">
                  <a:moveTo>
                    <a:pt x="28437" y="0"/>
                  </a:moveTo>
                  <a:lnTo>
                    <a:pt x="1262200" y="0"/>
                  </a:lnTo>
                  <a:cubicBezTo>
                    <a:pt x="1269742" y="0"/>
                    <a:pt x="1276976" y="2996"/>
                    <a:pt x="1282309" y="8329"/>
                  </a:cubicBezTo>
                  <a:cubicBezTo>
                    <a:pt x="1287642" y="13662"/>
                    <a:pt x="1290638" y="20895"/>
                    <a:pt x="1290638" y="28437"/>
                  </a:cubicBezTo>
                  <a:lnTo>
                    <a:pt x="1290638" y="129387"/>
                  </a:lnTo>
                  <a:cubicBezTo>
                    <a:pt x="1290638" y="136929"/>
                    <a:pt x="1287642" y="144163"/>
                    <a:pt x="1282309" y="149496"/>
                  </a:cubicBezTo>
                  <a:cubicBezTo>
                    <a:pt x="1276976" y="154829"/>
                    <a:pt x="1269742" y="157825"/>
                    <a:pt x="1262200" y="157825"/>
                  </a:cubicBezTo>
                  <a:lnTo>
                    <a:pt x="28437" y="157825"/>
                  </a:lnTo>
                  <a:cubicBezTo>
                    <a:pt x="12732" y="157825"/>
                    <a:pt x="0" y="145093"/>
                    <a:pt x="0" y="129387"/>
                  </a:cubicBezTo>
                  <a:lnTo>
                    <a:pt x="0" y="28437"/>
                  </a:lnTo>
                  <a:cubicBezTo>
                    <a:pt x="0" y="20895"/>
                    <a:pt x="2996" y="13662"/>
                    <a:pt x="8329" y="8329"/>
                  </a:cubicBezTo>
                  <a:cubicBezTo>
                    <a:pt x="13662" y="2996"/>
                    <a:pt x="20895" y="0"/>
                    <a:pt x="28437" y="0"/>
                  </a:cubicBezTo>
                  <a:close/>
                </a:path>
              </a:pathLst>
            </a:custGeom>
            <a:solidFill>
              <a:srgbClr val="00347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290638" cy="20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331846" y="2976693"/>
            <a:ext cx="4576785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60"/>
              </a:lnSpc>
            </a:pPr>
            <a:r>
              <a:rPr lang="en-US" b="true" sz="30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IP Utama: 192.168.6.0/24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300381" y="3658853"/>
            <a:ext cx="3765148" cy="1362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Perhitungan: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/27 = 2^5</a:t>
            </a:r>
            <a:r>
              <a:rPr lang="en-US" sz="25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- 2 = 30 host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/29 = 2^3 - 2 = 6 host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300381" y="5198327"/>
            <a:ext cx="3765148" cy="1362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Subnet Mask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/27 = 255.</a:t>
            </a:r>
            <a:r>
              <a:rPr lang="en-US" sz="25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255.255.224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/29 = 255.255.255.248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58252" y="8211803"/>
            <a:ext cx="16101048" cy="1362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VLSM (Variable Length</a:t>
            </a:r>
            <a:r>
              <a:rPr lang="en-US" b="true" sz="2599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 Subnet Mask) </a:t>
            </a:r>
            <a:r>
              <a:rPr lang="en-US" sz="25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adalah metode pembagian jaringan menjadi beberapa subnet dengan ukuran berbeda sesuai kebutuhan setiap ruangan, sekaligus menyediakan kapasitas cadangan untuk penambahan perangkat dan gateway.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13532252" y="1028700"/>
            <a:ext cx="3727048" cy="3727048"/>
            <a:chOff x="0" y="0"/>
            <a:chExt cx="558800" cy="558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0" y="558800"/>
                  </a:moveTo>
                  <a:cubicBezTo>
                    <a:pt x="0" y="411634"/>
                    <a:pt x="59606" y="267731"/>
                    <a:pt x="163669" y="163669"/>
                  </a:cubicBezTo>
                  <a:cubicBezTo>
                    <a:pt x="267731" y="59606"/>
                    <a:pt x="411634" y="0"/>
                    <a:pt x="558800" y="0"/>
                  </a:cubicBezTo>
                  <a:lnTo>
                    <a:pt x="558800" y="415991"/>
                  </a:lnTo>
                  <a:cubicBezTo>
                    <a:pt x="558800" y="453866"/>
                    <a:pt x="543754" y="490190"/>
                    <a:pt x="516972" y="516972"/>
                  </a:cubicBezTo>
                  <a:cubicBezTo>
                    <a:pt x="490190" y="543754"/>
                    <a:pt x="453866" y="558800"/>
                    <a:pt x="415991" y="558800"/>
                  </a:cubicBezTo>
                  <a:lnTo>
                    <a:pt x="0" y="558800"/>
                  </a:lnTo>
                  <a:close/>
                </a:path>
              </a:pathLst>
            </a:custGeom>
            <a:solidFill>
              <a:srgbClr val="000000">
                <a:alpha val="6667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165100" y="117475"/>
              <a:ext cx="393700" cy="441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58252" y="2589944"/>
            <a:ext cx="5253734" cy="599241"/>
            <a:chOff x="0" y="0"/>
            <a:chExt cx="1383700" cy="1578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83700" cy="157825"/>
            </a:xfrm>
            <a:custGeom>
              <a:avLst/>
              <a:gdLst/>
              <a:ahLst/>
              <a:cxnLst/>
              <a:rect r="r" b="b" t="t" l="l"/>
              <a:pathLst>
                <a:path h="157825" w="1383700">
                  <a:moveTo>
                    <a:pt x="26525" y="0"/>
                  </a:moveTo>
                  <a:lnTo>
                    <a:pt x="1357175" y="0"/>
                  </a:lnTo>
                  <a:cubicBezTo>
                    <a:pt x="1364210" y="0"/>
                    <a:pt x="1370956" y="2795"/>
                    <a:pt x="1375931" y="7769"/>
                  </a:cubicBezTo>
                  <a:cubicBezTo>
                    <a:pt x="1380905" y="12743"/>
                    <a:pt x="1383700" y="19490"/>
                    <a:pt x="1383700" y="26525"/>
                  </a:cubicBezTo>
                  <a:lnTo>
                    <a:pt x="1383700" y="131300"/>
                  </a:lnTo>
                  <a:cubicBezTo>
                    <a:pt x="1383700" y="138335"/>
                    <a:pt x="1380905" y="145081"/>
                    <a:pt x="1375931" y="150056"/>
                  </a:cubicBezTo>
                  <a:cubicBezTo>
                    <a:pt x="1370956" y="155030"/>
                    <a:pt x="1364210" y="157825"/>
                    <a:pt x="1357175" y="157825"/>
                  </a:cubicBezTo>
                  <a:lnTo>
                    <a:pt x="26525" y="157825"/>
                  </a:lnTo>
                  <a:cubicBezTo>
                    <a:pt x="19490" y="157825"/>
                    <a:pt x="12743" y="155030"/>
                    <a:pt x="7769" y="150056"/>
                  </a:cubicBezTo>
                  <a:cubicBezTo>
                    <a:pt x="2795" y="145081"/>
                    <a:pt x="0" y="138335"/>
                    <a:pt x="0" y="131300"/>
                  </a:cubicBezTo>
                  <a:lnTo>
                    <a:pt x="0" y="26525"/>
                  </a:lnTo>
                  <a:cubicBezTo>
                    <a:pt x="0" y="19490"/>
                    <a:pt x="2795" y="12743"/>
                    <a:pt x="7769" y="7769"/>
                  </a:cubicBezTo>
                  <a:cubicBezTo>
                    <a:pt x="12743" y="2795"/>
                    <a:pt x="19490" y="0"/>
                    <a:pt x="26525" y="0"/>
                  </a:cubicBezTo>
                  <a:close/>
                </a:path>
              </a:pathLst>
            </a:custGeom>
            <a:solidFill>
              <a:srgbClr val="00347A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383700" cy="20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5422912"/>
            <a:ext cx="10507468" cy="181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2" indent="-280671" lvl="1">
              <a:lnSpc>
                <a:spcPts val="3640"/>
              </a:lnSpc>
              <a:buAutoNum type="arabicPeriod" startAt="1"/>
            </a:pP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Memudahkan pengelolaan jaring</a:t>
            </a: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 setiap ruangan.</a:t>
            </a:r>
          </a:p>
          <a:p>
            <a:pPr algn="l" marL="561342" indent="-280671" lvl="1">
              <a:lnSpc>
                <a:spcPts val="3640"/>
              </a:lnSpc>
              <a:buAutoNum type="arabicPeriod" startAt="1"/>
            </a:pP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Mendukung komunikasi antar-subnet melalui router.</a:t>
            </a:r>
          </a:p>
          <a:p>
            <a:pPr algn="l" marL="561342" indent="-280671" lvl="1">
              <a:lnSpc>
                <a:spcPts val="3640"/>
              </a:lnSpc>
              <a:buAutoNum type="arabicPeriod" startAt="1"/>
            </a:pP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Memudahkan penambahan perangkat.</a:t>
            </a:r>
          </a:p>
          <a:p>
            <a:pPr algn="l" marL="561342" indent="-280671" lvl="1">
              <a:lnSpc>
                <a:spcPts val="3640"/>
              </a:lnSpc>
              <a:buAutoNum type="arabicPeriod" startAt="1"/>
            </a:pP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Memungkinkan pembatasan akses antarjaringan.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1483486" y="2892224"/>
            <a:ext cx="5545735" cy="5007401"/>
            <a:chOff x="0" y="0"/>
            <a:chExt cx="6612330" cy="597045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612313" cy="5970498"/>
            </a:xfrm>
            <a:custGeom>
              <a:avLst/>
              <a:gdLst/>
              <a:ahLst/>
              <a:cxnLst/>
              <a:rect r="r" b="b" t="t" l="l"/>
              <a:pathLst>
                <a:path h="5970498" w="6612313">
                  <a:moveTo>
                    <a:pt x="555454" y="0"/>
                  </a:moveTo>
                  <a:lnTo>
                    <a:pt x="6056859" y="0"/>
                  </a:lnTo>
                  <a:cubicBezTo>
                    <a:pt x="6363628" y="0"/>
                    <a:pt x="6612313" y="248685"/>
                    <a:pt x="6612313" y="555454"/>
                  </a:cubicBezTo>
                  <a:lnTo>
                    <a:pt x="6612313" y="5415044"/>
                  </a:lnTo>
                  <a:cubicBezTo>
                    <a:pt x="6612313" y="5721812"/>
                    <a:pt x="6363628" y="5970498"/>
                    <a:pt x="6056859" y="5970498"/>
                  </a:cubicBezTo>
                  <a:lnTo>
                    <a:pt x="555454" y="5970498"/>
                  </a:lnTo>
                  <a:cubicBezTo>
                    <a:pt x="408139" y="5970498"/>
                    <a:pt x="266857" y="5911977"/>
                    <a:pt x="162689" y="5807809"/>
                  </a:cubicBezTo>
                  <a:cubicBezTo>
                    <a:pt x="58521" y="5703641"/>
                    <a:pt x="0" y="5562359"/>
                    <a:pt x="0" y="5415044"/>
                  </a:cubicBezTo>
                  <a:lnTo>
                    <a:pt x="0" y="555454"/>
                  </a:lnTo>
                  <a:cubicBezTo>
                    <a:pt x="0" y="408139"/>
                    <a:pt x="58521" y="266857"/>
                    <a:pt x="162689" y="162689"/>
                  </a:cubicBezTo>
                  <a:cubicBezTo>
                    <a:pt x="266857" y="58521"/>
                    <a:pt x="408139" y="0"/>
                    <a:pt x="555454" y="0"/>
                  </a:cubicBezTo>
                  <a:close/>
                </a:path>
              </a:pathLst>
            </a:custGeom>
            <a:blipFill>
              <a:blip r:embed="rId3"/>
              <a:stretch>
                <a:fillRect l="-6758" t="-4559" r="-3171" b="-5822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158252" y="3298423"/>
            <a:ext cx="9884956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Topologi Extended Star merupakan pengembangan topologi Star, di mana beberapa switch terhubung melalui perangkat jaringan pusat.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1066800"/>
            <a:ext cx="13390027" cy="808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00"/>
              </a:lnSpc>
            </a:pPr>
            <a:r>
              <a:rPr lang="en-US" b="true" sz="5600" spc="-112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PEMILIHAN TOPOLOGI JARINGAN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31846" y="2716575"/>
            <a:ext cx="5557682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60"/>
              </a:lnSpc>
            </a:pPr>
            <a:r>
              <a:rPr lang="en-US" b="true" sz="30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TOPOLOGI EXTENDED STAR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58252" y="4841887"/>
            <a:ext cx="4094444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Alasan Pemilihan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96402" y="1424745"/>
            <a:ext cx="15695197" cy="808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00"/>
              </a:lnSpc>
            </a:pPr>
            <a:r>
              <a:rPr lang="en-US" b="true" sz="5600" spc="-112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IMPLEMENTASI &amp; PENGUJIAN GNS3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158252" y="2850062"/>
            <a:ext cx="4355692" cy="599241"/>
            <a:chOff x="0" y="0"/>
            <a:chExt cx="1147178" cy="15782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47178" cy="157825"/>
            </a:xfrm>
            <a:custGeom>
              <a:avLst/>
              <a:gdLst/>
              <a:ahLst/>
              <a:cxnLst/>
              <a:rect r="r" b="b" t="t" l="l"/>
              <a:pathLst>
                <a:path h="157825" w="1147178">
                  <a:moveTo>
                    <a:pt x="31994" y="0"/>
                  </a:moveTo>
                  <a:lnTo>
                    <a:pt x="1115184" y="0"/>
                  </a:lnTo>
                  <a:cubicBezTo>
                    <a:pt x="1123670" y="0"/>
                    <a:pt x="1131807" y="3371"/>
                    <a:pt x="1137807" y="9371"/>
                  </a:cubicBezTo>
                  <a:cubicBezTo>
                    <a:pt x="1143807" y="15371"/>
                    <a:pt x="1147178" y="23508"/>
                    <a:pt x="1147178" y="31994"/>
                  </a:cubicBezTo>
                  <a:lnTo>
                    <a:pt x="1147178" y="125831"/>
                  </a:lnTo>
                  <a:cubicBezTo>
                    <a:pt x="1147178" y="134316"/>
                    <a:pt x="1143807" y="142454"/>
                    <a:pt x="1137807" y="148454"/>
                  </a:cubicBezTo>
                  <a:cubicBezTo>
                    <a:pt x="1131807" y="154454"/>
                    <a:pt x="1123670" y="157825"/>
                    <a:pt x="1115184" y="157825"/>
                  </a:cubicBezTo>
                  <a:lnTo>
                    <a:pt x="31994" y="157825"/>
                  </a:lnTo>
                  <a:cubicBezTo>
                    <a:pt x="23508" y="157825"/>
                    <a:pt x="15371" y="154454"/>
                    <a:pt x="9371" y="148454"/>
                  </a:cubicBezTo>
                  <a:cubicBezTo>
                    <a:pt x="3371" y="142454"/>
                    <a:pt x="0" y="134316"/>
                    <a:pt x="0" y="125831"/>
                  </a:cubicBezTo>
                  <a:lnTo>
                    <a:pt x="0" y="31994"/>
                  </a:lnTo>
                  <a:cubicBezTo>
                    <a:pt x="0" y="23508"/>
                    <a:pt x="3371" y="15371"/>
                    <a:pt x="9371" y="9371"/>
                  </a:cubicBezTo>
                  <a:cubicBezTo>
                    <a:pt x="15371" y="3371"/>
                    <a:pt x="23508" y="0"/>
                    <a:pt x="31994" y="0"/>
                  </a:cubicBezTo>
                  <a:close/>
                </a:path>
              </a:pathLst>
            </a:custGeom>
            <a:solidFill>
              <a:srgbClr val="00347A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147178" cy="20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716807" y="2850062"/>
            <a:ext cx="3172919" cy="599241"/>
            <a:chOff x="0" y="0"/>
            <a:chExt cx="835666" cy="15782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35666" cy="157825"/>
            </a:xfrm>
            <a:custGeom>
              <a:avLst/>
              <a:gdLst/>
              <a:ahLst/>
              <a:cxnLst/>
              <a:rect r="r" b="b" t="t" l="l"/>
              <a:pathLst>
                <a:path h="157825" w="835666">
                  <a:moveTo>
                    <a:pt x="43920" y="0"/>
                  </a:moveTo>
                  <a:lnTo>
                    <a:pt x="791746" y="0"/>
                  </a:lnTo>
                  <a:cubicBezTo>
                    <a:pt x="803394" y="0"/>
                    <a:pt x="814565" y="4627"/>
                    <a:pt x="822802" y="12864"/>
                  </a:cubicBezTo>
                  <a:cubicBezTo>
                    <a:pt x="831039" y="21100"/>
                    <a:pt x="835666" y="32272"/>
                    <a:pt x="835666" y="43920"/>
                  </a:cubicBezTo>
                  <a:lnTo>
                    <a:pt x="835666" y="113905"/>
                  </a:lnTo>
                  <a:cubicBezTo>
                    <a:pt x="835666" y="138161"/>
                    <a:pt x="816002" y="157825"/>
                    <a:pt x="791746" y="157825"/>
                  </a:cubicBezTo>
                  <a:lnTo>
                    <a:pt x="43920" y="157825"/>
                  </a:lnTo>
                  <a:cubicBezTo>
                    <a:pt x="19664" y="157825"/>
                    <a:pt x="0" y="138161"/>
                    <a:pt x="0" y="113905"/>
                  </a:cubicBezTo>
                  <a:lnTo>
                    <a:pt x="0" y="43920"/>
                  </a:lnTo>
                  <a:cubicBezTo>
                    <a:pt x="0" y="19664"/>
                    <a:pt x="19664" y="0"/>
                    <a:pt x="43920" y="0"/>
                  </a:cubicBezTo>
                  <a:close/>
                </a:path>
              </a:pathLst>
            </a:custGeom>
            <a:solidFill>
              <a:srgbClr val="00347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835666" cy="20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331846" y="2976693"/>
            <a:ext cx="4032087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60"/>
              </a:lnSpc>
            </a:pPr>
            <a:r>
              <a:rPr lang="en-US" b="true" sz="30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Pengujian Konektivitas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90401" y="2976693"/>
            <a:ext cx="2880439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60"/>
              </a:lnSpc>
            </a:pPr>
            <a:r>
              <a:rPr lang="en-US" b="true" sz="30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Bukti Pengujian: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58252" y="5516228"/>
            <a:ext cx="6017143" cy="2480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Penjelasan:</a:t>
            </a:r>
          </a:p>
          <a:p>
            <a:pPr algn="l">
              <a:lnSpc>
                <a:spcPts val="839"/>
              </a:lnSpc>
            </a:pP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Ping</a:t>
            </a:r>
            <a:r>
              <a:rPr lang="en-US" sz="25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dalam satu ruangan diharapkan berhasil karena komputer</a:t>
            </a:r>
            <a:r>
              <a:rPr lang="en-US" sz="25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berada dalam subnet yang sama.</a:t>
            </a:r>
          </a:p>
          <a:p>
            <a:pPr algn="l">
              <a:lnSpc>
                <a:spcPts val="839"/>
              </a:lnSpc>
              <a:spcBef>
                <a:spcPct val="0"/>
              </a:spcBef>
            </a:pP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Ping antar-ruangan diharapkan gagal.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175396" y="8029808"/>
            <a:ext cx="5183109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PC Coworking → PC Coworking</a:t>
            </a:r>
          </a:p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Ping berhasil dalam satu ruangan.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894695" y="8029808"/>
            <a:ext cx="4096904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PC Coworking → PC Kasir</a:t>
            </a:r>
          </a:p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Ping gagal antar-ruangan.</a:t>
            </a:r>
          </a:p>
        </p:txBody>
      </p:sp>
      <p:graphicFrame>
        <p:nvGraphicFramePr>
          <p:cNvPr name="Table 15" id="15"/>
          <p:cNvGraphicFramePr>
            <a:graphicFrameLocks noGrp="true"/>
          </p:cNvGraphicFramePr>
          <p:nvPr/>
        </p:nvGraphicFramePr>
        <p:xfrm>
          <a:off x="1158252" y="3716003"/>
          <a:ext cx="6017143" cy="1590675"/>
        </p:xfrm>
        <a:graphic>
          <a:graphicData uri="http://schemas.openxmlformats.org/drawingml/2006/table">
            <a:tbl>
              <a:tblPr/>
              <a:tblGrid>
                <a:gridCol w="3509814"/>
                <a:gridCol w="2507330"/>
              </a:tblGrid>
              <a:tr h="5302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Pengujian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Target Hasil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A"/>
                    </a:solidFill>
                  </a:tcPr>
                </a:tc>
              </a:tr>
              <a:tr h="53022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6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Ping dalam satu ruangan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Berhasil (Reply)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22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6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Ping antar-ruangan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Gagal (Timeout)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16" id="16"/>
          <p:cNvGrpSpPr/>
          <p:nvPr/>
        </p:nvGrpSpPr>
        <p:grpSpPr>
          <a:xfrm rot="0">
            <a:off x="7716807" y="3696798"/>
            <a:ext cx="4100286" cy="4119956"/>
            <a:chOff x="0" y="0"/>
            <a:chExt cx="2732239" cy="274534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732199" cy="2745359"/>
            </a:xfrm>
            <a:custGeom>
              <a:avLst/>
              <a:gdLst/>
              <a:ahLst/>
              <a:cxnLst/>
              <a:rect r="r" b="b" t="t" l="l"/>
              <a:pathLst>
                <a:path h="2745359" w="2732199">
                  <a:moveTo>
                    <a:pt x="0" y="0"/>
                  </a:moveTo>
                  <a:lnTo>
                    <a:pt x="2732199" y="0"/>
                  </a:lnTo>
                  <a:lnTo>
                    <a:pt x="2732199" y="2745359"/>
                  </a:lnTo>
                  <a:lnTo>
                    <a:pt x="0" y="27453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00" t="0" r="-42026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3030457" y="3696798"/>
            <a:ext cx="3825379" cy="4119956"/>
            <a:chOff x="0" y="0"/>
            <a:chExt cx="2549054" cy="274534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49017" cy="2745359"/>
            </a:xfrm>
            <a:custGeom>
              <a:avLst/>
              <a:gdLst/>
              <a:ahLst/>
              <a:cxnLst/>
              <a:rect r="r" b="b" t="t" l="l"/>
              <a:pathLst>
                <a:path h="2745359" w="2549017">
                  <a:moveTo>
                    <a:pt x="0" y="0"/>
                  </a:moveTo>
                  <a:lnTo>
                    <a:pt x="2549017" y="0"/>
                  </a:lnTo>
                  <a:lnTo>
                    <a:pt x="2549017" y="2745359"/>
                  </a:lnTo>
                  <a:lnTo>
                    <a:pt x="0" y="27453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127" t="0" r="-54568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58252" y="2589944"/>
            <a:ext cx="6420226" cy="599241"/>
            <a:chOff x="0" y="0"/>
            <a:chExt cx="1690924" cy="15782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90924" cy="157825"/>
            </a:xfrm>
            <a:custGeom>
              <a:avLst/>
              <a:gdLst/>
              <a:ahLst/>
              <a:cxnLst/>
              <a:rect r="r" b="b" t="t" l="l"/>
              <a:pathLst>
                <a:path h="157825" w="1690924">
                  <a:moveTo>
                    <a:pt x="21706" y="0"/>
                  </a:moveTo>
                  <a:lnTo>
                    <a:pt x="1669218" y="0"/>
                  </a:lnTo>
                  <a:cubicBezTo>
                    <a:pt x="1681206" y="0"/>
                    <a:pt x="1690924" y="9718"/>
                    <a:pt x="1690924" y="21706"/>
                  </a:cubicBezTo>
                  <a:lnTo>
                    <a:pt x="1690924" y="136119"/>
                  </a:lnTo>
                  <a:cubicBezTo>
                    <a:pt x="1690924" y="148107"/>
                    <a:pt x="1681206" y="157825"/>
                    <a:pt x="1669218" y="157825"/>
                  </a:cubicBezTo>
                  <a:lnTo>
                    <a:pt x="21706" y="157825"/>
                  </a:lnTo>
                  <a:cubicBezTo>
                    <a:pt x="9718" y="157825"/>
                    <a:pt x="0" y="148107"/>
                    <a:pt x="0" y="136119"/>
                  </a:cubicBezTo>
                  <a:lnTo>
                    <a:pt x="0" y="21706"/>
                  </a:lnTo>
                  <a:cubicBezTo>
                    <a:pt x="0" y="9718"/>
                    <a:pt x="9718" y="0"/>
                    <a:pt x="21706" y="0"/>
                  </a:cubicBezTo>
                  <a:close/>
                </a:path>
              </a:pathLst>
            </a:custGeom>
            <a:solidFill>
              <a:srgbClr val="00347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690924" cy="20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196352" y="3251735"/>
            <a:ext cx="11455480" cy="2734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2" indent="-280671" lvl="1">
              <a:lnSpc>
                <a:spcPts val="3640"/>
              </a:lnSpc>
              <a:buAutoNum type="arabicPeriod" startAt="1"/>
            </a:pP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Jaringan dirancang untuk 4 ruangan dengan total 18 komputer.</a:t>
            </a:r>
          </a:p>
          <a:p>
            <a:pPr algn="l" marL="561342" indent="-280671" lvl="1">
              <a:lnSpc>
                <a:spcPts val="3640"/>
              </a:lnSpc>
              <a:buAutoNum type="arabicPeriod" startAt="1"/>
            </a:pP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Topologi Extended Star menggunakan 4 switch dan 1 router.</a:t>
            </a:r>
          </a:p>
          <a:p>
            <a:pPr algn="l" marL="561342" indent="-280671" lvl="1">
              <a:lnSpc>
                <a:spcPts val="3640"/>
              </a:lnSpc>
              <a:buAutoNum type="arabicPeriod" startAt="1"/>
            </a:pP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Metode VLSM membagi jaringan menjadi 4 subnet sesuai kebutuhan.</a:t>
            </a:r>
          </a:p>
          <a:p>
            <a:pPr algn="l" marL="561342" indent="-280671" lvl="1">
              <a:lnSpc>
                <a:spcPts val="3640"/>
              </a:lnSpc>
              <a:buAutoNum type="arabicPeriod" startAt="1"/>
            </a:pP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Kabel UTP digunakan sebagai media penghubung perangkat.</a:t>
            </a:r>
          </a:p>
          <a:p>
            <a:pPr algn="l" marL="561342" indent="-280671" lvl="1">
              <a:lnSpc>
                <a:spcPts val="3640"/>
              </a:lnSpc>
              <a:buAutoNum type="arabicPeriod" startAt="1"/>
            </a:pP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Penguj</a:t>
            </a: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ian GNS3 menunjukkan komunikasi dalam satu subnet berhasil, sedangkan komunikasi antar-subnet gagal pada konfigurasi yang diuji.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158252" y="6352937"/>
            <a:ext cx="3504915" cy="599241"/>
            <a:chOff x="0" y="0"/>
            <a:chExt cx="923105" cy="15782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23105" cy="157825"/>
            </a:xfrm>
            <a:custGeom>
              <a:avLst/>
              <a:gdLst/>
              <a:ahLst/>
              <a:cxnLst/>
              <a:rect r="r" b="b" t="t" l="l"/>
              <a:pathLst>
                <a:path h="157825" w="923105">
                  <a:moveTo>
                    <a:pt x="39760" y="0"/>
                  </a:moveTo>
                  <a:lnTo>
                    <a:pt x="883345" y="0"/>
                  </a:lnTo>
                  <a:cubicBezTo>
                    <a:pt x="905304" y="0"/>
                    <a:pt x="923105" y="17801"/>
                    <a:pt x="923105" y="39760"/>
                  </a:cubicBezTo>
                  <a:lnTo>
                    <a:pt x="923105" y="118065"/>
                  </a:lnTo>
                  <a:cubicBezTo>
                    <a:pt x="923105" y="128610"/>
                    <a:pt x="918916" y="138723"/>
                    <a:pt x="911460" y="146179"/>
                  </a:cubicBezTo>
                  <a:cubicBezTo>
                    <a:pt x="904003" y="153636"/>
                    <a:pt x="893890" y="157825"/>
                    <a:pt x="883345" y="157825"/>
                  </a:cubicBezTo>
                  <a:lnTo>
                    <a:pt x="39760" y="157825"/>
                  </a:lnTo>
                  <a:cubicBezTo>
                    <a:pt x="29215" y="157825"/>
                    <a:pt x="19102" y="153636"/>
                    <a:pt x="11645" y="146179"/>
                  </a:cubicBezTo>
                  <a:cubicBezTo>
                    <a:pt x="4189" y="138723"/>
                    <a:pt x="0" y="128610"/>
                    <a:pt x="0" y="118065"/>
                  </a:cubicBezTo>
                  <a:lnTo>
                    <a:pt x="0" y="39760"/>
                  </a:lnTo>
                  <a:cubicBezTo>
                    <a:pt x="0" y="29215"/>
                    <a:pt x="4189" y="19102"/>
                    <a:pt x="11645" y="11645"/>
                  </a:cubicBezTo>
                  <a:cubicBezTo>
                    <a:pt x="19102" y="4189"/>
                    <a:pt x="29215" y="0"/>
                    <a:pt x="39760" y="0"/>
                  </a:cubicBezTo>
                  <a:close/>
                </a:path>
              </a:pathLst>
            </a:custGeom>
            <a:solidFill>
              <a:srgbClr val="00347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923105" cy="20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287985" y="4286985"/>
            <a:ext cx="4971315" cy="4971315"/>
            <a:chOff x="0" y="0"/>
            <a:chExt cx="558800" cy="558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0" y="558800"/>
                  </a:moveTo>
                  <a:cubicBezTo>
                    <a:pt x="0" y="411634"/>
                    <a:pt x="59606" y="267731"/>
                    <a:pt x="163669" y="163669"/>
                  </a:cubicBezTo>
                  <a:cubicBezTo>
                    <a:pt x="267731" y="59606"/>
                    <a:pt x="411634" y="0"/>
                    <a:pt x="558800" y="0"/>
                  </a:cubicBezTo>
                  <a:lnTo>
                    <a:pt x="558800" y="451734"/>
                  </a:lnTo>
                  <a:cubicBezTo>
                    <a:pt x="558800" y="480130"/>
                    <a:pt x="547520" y="507362"/>
                    <a:pt x="527441" y="527441"/>
                  </a:cubicBezTo>
                  <a:cubicBezTo>
                    <a:pt x="507362" y="547520"/>
                    <a:pt x="480130" y="558800"/>
                    <a:pt x="451734" y="558800"/>
                  </a:cubicBezTo>
                  <a:lnTo>
                    <a:pt x="0" y="558800"/>
                  </a:lnTo>
                  <a:close/>
                </a:path>
              </a:pathLst>
            </a:custGeom>
            <a:solidFill>
              <a:srgbClr val="000000">
                <a:alpha val="6667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165100" y="117475"/>
              <a:ext cx="393700" cy="441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1330920">
            <a:off x="12669952" y="4002077"/>
            <a:ext cx="3987874" cy="3967934"/>
          </a:xfrm>
          <a:custGeom>
            <a:avLst/>
            <a:gdLst/>
            <a:ahLst/>
            <a:cxnLst/>
            <a:rect r="r" b="b" t="t" l="l"/>
            <a:pathLst>
              <a:path h="3967934" w="3987874">
                <a:moveTo>
                  <a:pt x="0" y="0"/>
                </a:moveTo>
                <a:lnTo>
                  <a:pt x="3987874" y="0"/>
                </a:lnTo>
                <a:lnTo>
                  <a:pt x="3987874" y="3967935"/>
                </a:lnTo>
                <a:lnTo>
                  <a:pt x="0" y="39679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196352" y="7104577"/>
            <a:ext cx="10507468" cy="181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Perancangan jaringan Kafe &amp; Coworking Space menggunakan topologi Extended Star dan metode VLSM menghasilkan struktur jaringan yang terorganisasi, mudah dikembangkan, serta memungkinkan pengaturan komunikasi antar-ruangan.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1066800"/>
            <a:ext cx="13390027" cy="808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00"/>
              </a:lnSpc>
            </a:pPr>
            <a:r>
              <a:rPr lang="en-US" b="true" sz="5600" spc="-112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KESIMPULAN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31846" y="2716575"/>
            <a:ext cx="6662641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60"/>
              </a:lnSpc>
            </a:pPr>
            <a:r>
              <a:rPr lang="en-US" b="true" sz="30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Kesimpulan Perancangan Jaringan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31846" y="6479568"/>
            <a:ext cx="3331321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60"/>
              </a:lnSpc>
            </a:pPr>
            <a:r>
              <a:rPr lang="en-US" b="true" sz="30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Kesimpulan Akhir: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814175" y="4258473"/>
            <a:ext cx="6659650" cy="1712904"/>
            <a:chOff x="0" y="0"/>
            <a:chExt cx="1753982" cy="45113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53982" cy="451135"/>
            </a:xfrm>
            <a:custGeom>
              <a:avLst/>
              <a:gdLst/>
              <a:ahLst/>
              <a:cxnLst/>
              <a:rect r="r" b="b" t="t" l="l"/>
              <a:pathLst>
                <a:path h="451135" w="1753982">
                  <a:moveTo>
                    <a:pt x="46500" y="0"/>
                  </a:moveTo>
                  <a:lnTo>
                    <a:pt x="1707481" y="0"/>
                  </a:lnTo>
                  <a:cubicBezTo>
                    <a:pt x="1733163" y="0"/>
                    <a:pt x="1753982" y="20819"/>
                    <a:pt x="1753982" y="46500"/>
                  </a:cubicBezTo>
                  <a:lnTo>
                    <a:pt x="1753982" y="404635"/>
                  </a:lnTo>
                  <a:cubicBezTo>
                    <a:pt x="1753982" y="416967"/>
                    <a:pt x="1749083" y="428795"/>
                    <a:pt x="1740362" y="437516"/>
                  </a:cubicBezTo>
                  <a:cubicBezTo>
                    <a:pt x="1731642" y="446236"/>
                    <a:pt x="1719814" y="451135"/>
                    <a:pt x="1707481" y="451135"/>
                  </a:cubicBezTo>
                  <a:lnTo>
                    <a:pt x="46500" y="451135"/>
                  </a:lnTo>
                  <a:cubicBezTo>
                    <a:pt x="34168" y="451135"/>
                    <a:pt x="22340" y="446236"/>
                    <a:pt x="13620" y="437516"/>
                  </a:cubicBezTo>
                  <a:cubicBezTo>
                    <a:pt x="4899" y="428795"/>
                    <a:pt x="0" y="416967"/>
                    <a:pt x="0" y="404635"/>
                  </a:cubicBezTo>
                  <a:lnTo>
                    <a:pt x="0" y="46500"/>
                  </a:lnTo>
                  <a:cubicBezTo>
                    <a:pt x="0" y="34168"/>
                    <a:pt x="4899" y="22340"/>
                    <a:pt x="13620" y="13620"/>
                  </a:cubicBezTo>
                  <a:cubicBezTo>
                    <a:pt x="22340" y="4899"/>
                    <a:pt x="34168" y="0"/>
                    <a:pt x="46500" y="0"/>
                  </a:cubicBezTo>
                  <a:close/>
                </a:path>
              </a:pathLst>
            </a:custGeom>
            <a:solidFill>
              <a:srgbClr val="00347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53982" cy="4987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863388" y="4610100"/>
            <a:ext cx="8561224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00"/>
              </a:lnSpc>
            </a:pPr>
            <a:r>
              <a:rPr lang="en-US" b="true" sz="7500" spc="-15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DAHYuA7MLNA</dc:identifier>
  <dcterms:modified xsi:type="dcterms:W3CDTF">2011-08-01T06:04:30Z</dcterms:modified>
  <cp:revision>1</cp:revision>
  <dc:title>PERANCANGAN &amp;  SIMULASI JARINGAN KOMPUTER - KAFE &amp; COWORKING SPACE</dc:title>
</cp:coreProperties>
</file>